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2" r:id="rId6"/>
    <p:sldId id="263" r:id="rId7"/>
    <p:sldId id="265" r:id="rId8"/>
    <p:sldId id="264" r:id="rId9"/>
    <p:sldId id="271" r:id="rId10"/>
    <p:sldId id="272" r:id="rId11"/>
    <p:sldId id="274" r:id="rId12"/>
    <p:sldId id="275" r:id="rId13"/>
    <p:sldId id="273" r:id="rId14"/>
    <p:sldId id="266" r:id="rId15"/>
    <p:sldId id="267"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ru-RU"/>
              <a:t>Образец заголовка</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5EB1D3F6-C0CA-48FB-9425-023F8898E8F6}" type="datetimeFigureOut">
              <a:rPr lang="ru-RU" smtClean="0"/>
              <a:t>17.09.2025</a:t>
            </a:fld>
            <a:endParaRPr lang="ru-RU"/>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ru-RU"/>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BB76C0AA-0F7F-47DB-AE18-0D6DB54BE0A0}" type="slidenum">
              <a:rPr lang="ru-RU" smtClean="0"/>
              <a:t>‹#›</a:t>
            </a:fld>
            <a:endParaRPr lang="ru-RU"/>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63390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EB1D3F6-C0CA-48FB-9425-023F8898E8F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778875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ru-RU"/>
              <a:t>Образец заголовка</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EB1D3F6-C0CA-48FB-9425-023F8898E8F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3127101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ru-RU"/>
              <a:t>Образец заголовка</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980298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ru-RU"/>
              <a:t>Образец заголовка</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Content Placeholder 3"/>
          <p:cNvSpPr>
            <a:spLocks noGrp="1"/>
          </p:cNvSpPr>
          <p:nvPr>
            <p:ph sz="quarter" idx="13"/>
          </p:nvPr>
        </p:nvSpPr>
        <p:spPr>
          <a:xfrm>
            <a:off x="685802" y="2861733"/>
            <a:ext cx="5088712" cy="2512852"/>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3" name="Content Placeholder 5"/>
          <p:cNvSpPr>
            <a:spLocks noGrp="1"/>
          </p:cNvSpPr>
          <p:nvPr>
            <p:ph sz="quarter" idx="14"/>
          </p:nvPr>
        </p:nvSpPr>
        <p:spPr>
          <a:xfrm>
            <a:off x="5993969" y="2861733"/>
            <a:ext cx="5088713" cy="2512852"/>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EB1D3F6-C0CA-48FB-9425-023F8898E8F6}" type="datetimeFigureOut">
              <a:rPr lang="ru-RU" smtClean="0"/>
              <a:t>17.09.2025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375417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EB1D3F6-C0CA-48FB-9425-023F8898E8F6}" type="datetimeFigureOut">
              <a:rPr lang="ru-RU" smtClean="0"/>
              <a:t>17.09.2025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162053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1D3F6-C0CA-48FB-9425-023F8898E8F6}" type="datetimeFigureOut">
              <a:rPr lang="ru-RU" smtClean="0"/>
              <a:t>17.09.2025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223548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ru-RU"/>
              <a:t>Образец заголовка</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2950002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2903432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397962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ru-RU"/>
              <a:t>Образец заголовка</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1221121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ru-RU"/>
              <a:t>Образец заголовка</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05173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ru-RU"/>
              <a:t>Образец заголовка</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EB1D3F6-C0CA-48FB-9425-023F8898E8F6}" type="datetimeFigureOut">
              <a:rPr lang="ru-RU" smtClean="0"/>
              <a:t>17.09.2025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3172909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ru-RU"/>
              <a:t>Образец заголовка</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5EB1D3F6-C0CA-48FB-9425-023F8898E8F6}" type="datetimeFigureOut">
              <a:rPr lang="ru-RU" smtClean="0"/>
              <a:t>17.09.2025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1405762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ru-RU"/>
              <a:t>Образец заголовка</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5EB1D3F6-C0CA-48FB-9425-023F8898E8F6}" type="datetimeFigureOut">
              <a:rPr lang="ru-RU" smtClean="0"/>
              <a:t>17.09.2025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4256476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ru-RU"/>
              <a:t>Образец заголовка</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EB1D3F6-C0CA-48FB-9425-023F8898E8F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870392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ru-RU"/>
              <a:t>Образец заголовка</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EB1D3F6-C0CA-48FB-9425-023F8898E8F6}" type="datetimeFigureOut">
              <a:rPr lang="ru-RU" smtClean="0"/>
              <a:t>17.09.2025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B76C0AA-0F7F-47DB-AE18-0D6DB54BE0A0}" type="slidenum">
              <a:rPr lang="ru-RU" smtClean="0"/>
              <a:t>‹#›</a:t>
            </a:fld>
            <a:endParaRPr lang="ru-RU"/>
          </a:p>
        </p:txBody>
      </p:sp>
    </p:spTree>
    <p:extLst>
      <p:ext uri="{BB962C8B-B14F-4D97-AF65-F5344CB8AC3E}">
        <p14:creationId xmlns:p14="http://schemas.microsoft.com/office/powerpoint/2010/main" val="1251452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5EB1D3F6-C0CA-48FB-9425-023F8898E8F6}" type="datetimeFigureOut">
              <a:rPr lang="ru-RU" smtClean="0"/>
              <a:t>17.09.2025</a:t>
            </a:fld>
            <a:endParaRPr lang="ru-RU"/>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ru-RU"/>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BB76C0AA-0F7F-47DB-AE18-0D6DB54BE0A0}" type="slidenum">
              <a:rPr lang="ru-RU" smtClean="0"/>
              <a:t>‹#›</a:t>
            </a:fld>
            <a:endParaRPr lang="ru-RU"/>
          </a:p>
        </p:txBody>
      </p:sp>
    </p:spTree>
    <p:extLst>
      <p:ext uri="{BB962C8B-B14F-4D97-AF65-F5344CB8AC3E}">
        <p14:creationId xmlns:p14="http://schemas.microsoft.com/office/powerpoint/2010/main" val="805566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3442E9-1DB9-9D06-4087-A7920155C498}"/>
              </a:ext>
            </a:extLst>
          </p:cNvPr>
          <p:cNvSpPr>
            <a:spLocks noGrp="1"/>
          </p:cNvSpPr>
          <p:nvPr>
            <p:ph type="ctrTitle"/>
          </p:nvPr>
        </p:nvSpPr>
        <p:spPr/>
        <p:txBody>
          <a:bodyPr/>
          <a:lstStyle/>
          <a:p>
            <a:r>
              <a:rPr lang="ru-RU" dirty="0"/>
              <a:t>Обратная сторона</a:t>
            </a:r>
          </a:p>
        </p:txBody>
      </p:sp>
      <p:sp>
        <p:nvSpPr>
          <p:cNvPr id="3" name="Подзаголовок 2">
            <a:extLst>
              <a:ext uri="{FF2B5EF4-FFF2-40B4-BE49-F238E27FC236}">
                <a16:creationId xmlns:a16="http://schemas.microsoft.com/office/drawing/2014/main" id="{5F31E269-2039-5289-538C-4FD48C1ECD0C}"/>
              </a:ext>
            </a:extLst>
          </p:cNvPr>
          <p:cNvSpPr>
            <a:spLocks noGrp="1"/>
          </p:cNvSpPr>
          <p:nvPr>
            <p:ph type="subTitle" idx="1"/>
          </p:nvPr>
        </p:nvSpPr>
        <p:spPr/>
        <p:txBody>
          <a:bodyPr/>
          <a:lstStyle/>
          <a:p>
            <a:r>
              <a:rPr lang="ru-RU" dirty="0"/>
              <a:t>Меликов роман группа 309</a:t>
            </a:r>
          </a:p>
        </p:txBody>
      </p:sp>
    </p:spTree>
    <p:extLst>
      <p:ext uri="{BB962C8B-B14F-4D97-AF65-F5344CB8AC3E}">
        <p14:creationId xmlns:p14="http://schemas.microsoft.com/office/powerpoint/2010/main" val="73234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655026-E3A3-056A-88D0-D654E0AC65B7}"/>
              </a:ext>
            </a:extLst>
          </p:cNvPr>
          <p:cNvSpPr>
            <a:spLocks noGrp="1"/>
          </p:cNvSpPr>
          <p:nvPr>
            <p:ph type="title"/>
          </p:nvPr>
        </p:nvSpPr>
        <p:spPr>
          <a:xfrm>
            <a:off x="685801" y="363984"/>
            <a:ext cx="10396882" cy="1473781"/>
          </a:xfrm>
        </p:spPr>
        <p:txBody>
          <a:bodyPr>
            <a:normAutofit fontScale="90000"/>
          </a:bodyPr>
          <a:lstStyle/>
          <a:p>
            <a:r>
              <a:rPr lang="ru-RU" dirty="0"/>
              <a:t>Особенности сферы </a:t>
            </a:r>
            <a:r>
              <a:rPr lang="ru-RU" dirty="0" err="1"/>
              <a:t>информацинных</a:t>
            </a:r>
            <a:r>
              <a:rPr lang="ru-RU" dirty="0"/>
              <a:t> технологий</a:t>
            </a:r>
          </a:p>
        </p:txBody>
      </p:sp>
      <p:sp>
        <p:nvSpPr>
          <p:cNvPr id="3" name="Объект 2">
            <a:extLst>
              <a:ext uri="{FF2B5EF4-FFF2-40B4-BE49-F238E27FC236}">
                <a16:creationId xmlns:a16="http://schemas.microsoft.com/office/drawing/2014/main" id="{ED03B051-630C-CEC9-2F80-64614902ECBF}"/>
              </a:ext>
            </a:extLst>
          </p:cNvPr>
          <p:cNvSpPr>
            <a:spLocks noGrp="1"/>
          </p:cNvSpPr>
          <p:nvPr>
            <p:ph sz="quarter" idx="13"/>
          </p:nvPr>
        </p:nvSpPr>
        <p:spPr/>
        <p:txBody>
          <a:bodyPr/>
          <a:lstStyle/>
          <a:p>
            <a:r>
              <a:rPr lang="ru-RU" dirty="0"/>
              <a:t>Программная инженерия сильно отличается от других видов инженерии, поскольку информационные системы это неявные объекты</a:t>
            </a:r>
          </a:p>
          <a:p>
            <a:r>
              <a:rPr lang="ru-RU" dirty="0"/>
              <a:t>Высокая скорость обработки и изменения  систем приводит к быстрым обновлениям парадигм и разработки новых решений</a:t>
            </a:r>
          </a:p>
          <a:p>
            <a:r>
              <a:rPr lang="ru-RU" dirty="0"/>
              <a:t>Сфера меняется каждые 10 лет</a:t>
            </a:r>
          </a:p>
        </p:txBody>
      </p:sp>
    </p:spTree>
    <p:extLst>
      <p:ext uri="{BB962C8B-B14F-4D97-AF65-F5344CB8AC3E}">
        <p14:creationId xmlns:p14="http://schemas.microsoft.com/office/powerpoint/2010/main" val="2651554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D59C6A-D67F-2333-13B5-FF9ADA827C89}"/>
              </a:ext>
            </a:extLst>
          </p:cNvPr>
          <p:cNvSpPr>
            <a:spLocks noGrp="1"/>
          </p:cNvSpPr>
          <p:nvPr>
            <p:ph type="title"/>
          </p:nvPr>
        </p:nvSpPr>
        <p:spPr/>
        <p:txBody>
          <a:bodyPr/>
          <a:lstStyle/>
          <a:p>
            <a:r>
              <a:rPr lang="ru-RU" dirty="0"/>
              <a:t>МНОГО СПОРОВ</a:t>
            </a:r>
          </a:p>
        </p:txBody>
      </p:sp>
      <p:pic>
        <p:nvPicPr>
          <p:cNvPr id="6" name="Объект 5">
            <a:extLst>
              <a:ext uri="{FF2B5EF4-FFF2-40B4-BE49-F238E27FC236}">
                <a16:creationId xmlns:a16="http://schemas.microsoft.com/office/drawing/2014/main" id="{0CEC96F8-01DE-0D7C-BEE9-1242B66307E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462015" y="837691"/>
            <a:ext cx="5614083" cy="3742722"/>
          </a:xfrm>
        </p:spPr>
      </p:pic>
      <p:sp>
        <p:nvSpPr>
          <p:cNvPr id="4" name="Текст 3">
            <a:extLst>
              <a:ext uri="{FF2B5EF4-FFF2-40B4-BE49-F238E27FC236}">
                <a16:creationId xmlns:a16="http://schemas.microsoft.com/office/drawing/2014/main" id="{95E2E098-42F1-D6AA-6299-2797562125D3}"/>
              </a:ext>
            </a:extLst>
          </p:cNvPr>
          <p:cNvSpPr>
            <a:spLocks noGrp="1"/>
          </p:cNvSpPr>
          <p:nvPr>
            <p:ph type="body" sz="half" idx="2"/>
          </p:nvPr>
        </p:nvSpPr>
        <p:spPr/>
        <p:txBody>
          <a:bodyPr/>
          <a:lstStyle/>
          <a:p>
            <a:r>
              <a:rPr lang="ru-RU" dirty="0" err="1"/>
              <a:t>мНОГИЕ</a:t>
            </a:r>
            <a:r>
              <a:rPr lang="ru-RU" dirty="0"/>
              <a:t> специалисты используют широкий спектр решений, методик и технологий, в результате чего вырабатывается широкий спектр мнений по всем вопросам</a:t>
            </a:r>
          </a:p>
        </p:txBody>
      </p:sp>
    </p:spTree>
    <p:extLst>
      <p:ext uri="{BB962C8B-B14F-4D97-AF65-F5344CB8AC3E}">
        <p14:creationId xmlns:p14="http://schemas.microsoft.com/office/powerpoint/2010/main" val="1869691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9AD530-D397-D3EC-08E0-B386E222BB77}"/>
              </a:ext>
            </a:extLst>
          </p:cNvPr>
          <p:cNvSpPr>
            <a:spLocks noGrp="1"/>
          </p:cNvSpPr>
          <p:nvPr>
            <p:ph type="title"/>
          </p:nvPr>
        </p:nvSpPr>
        <p:spPr/>
        <p:txBody>
          <a:bodyPr/>
          <a:lstStyle/>
          <a:p>
            <a:r>
              <a:rPr lang="ru-RU" dirty="0"/>
              <a:t>О чем говорят противники</a:t>
            </a:r>
          </a:p>
        </p:txBody>
      </p:sp>
      <p:sp>
        <p:nvSpPr>
          <p:cNvPr id="3" name="Текст 2">
            <a:extLst>
              <a:ext uri="{FF2B5EF4-FFF2-40B4-BE49-F238E27FC236}">
                <a16:creationId xmlns:a16="http://schemas.microsoft.com/office/drawing/2014/main" id="{1ADF9CEC-FCCF-BC15-A84F-3F0D6554CE39}"/>
              </a:ext>
            </a:extLst>
          </p:cNvPr>
          <p:cNvSpPr>
            <a:spLocks noGrp="1"/>
          </p:cNvSpPr>
          <p:nvPr>
            <p:ph type="body" idx="1"/>
          </p:nvPr>
        </p:nvSpPr>
        <p:spPr/>
        <p:txBody>
          <a:bodyPr/>
          <a:lstStyle/>
          <a:p>
            <a:r>
              <a:rPr lang="ru-RU" dirty="0"/>
              <a:t>Недостатки современных решений</a:t>
            </a:r>
          </a:p>
        </p:txBody>
      </p:sp>
    </p:spTree>
    <p:extLst>
      <p:ext uri="{BB962C8B-B14F-4D97-AF65-F5344CB8AC3E}">
        <p14:creationId xmlns:p14="http://schemas.microsoft.com/office/powerpoint/2010/main" val="178183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83A1DA-B460-7494-22EF-FE5FEDEF3676}"/>
              </a:ext>
            </a:extLst>
          </p:cNvPr>
          <p:cNvSpPr>
            <a:spLocks noGrp="1"/>
          </p:cNvSpPr>
          <p:nvPr>
            <p:ph type="title"/>
          </p:nvPr>
        </p:nvSpPr>
        <p:spPr/>
        <p:txBody>
          <a:bodyPr/>
          <a:lstStyle/>
          <a:p>
            <a:r>
              <a:rPr lang="ru-RU" dirty="0"/>
              <a:t>ЗАКОН МУРА</a:t>
            </a:r>
          </a:p>
        </p:txBody>
      </p:sp>
      <p:pic>
        <p:nvPicPr>
          <p:cNvPr id="6" name="Объект 5">
            <a:extLst>
              <a:ext uri="{FF2B5EF4-FFF2-40B4-BE49-F238E27FC236}">
                <a16:creationId xmlns:a16="http://schemas.microsoft.com/office/drawing/2014/main" id="{AF656788-6C06-755D-32A3-AC0387BB1C4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046663" y="798330"/>
            <a:ext cx="6034087" cy="4464415"/>
          </a:xfrm>
        </p:spPr>
      </p:pic>
      <p:sp>
        <p:nvSpPr>
          <p:cNvPr id="4" name="Текст 3">
            <a:extLst>
              <a:ext uri="{FF2B5EF4-FFF2-40B4-BE49-F238E27FC236}">
                <a16:creationId xmlns:a16="http://schemas.microsoft.com/office/drawing/2014/main" id="{6E5FF0B4-7C16-E8A7-7881-C1943B6B4C23}"/>
              </a:ext>
            </a:extLst>
          </p:cNvPr>
          <p:cNvSpPr>
            <a:spLocks noGrp="1"/>
          </p:cNvSpPr>
          <p:nvPr>
            <p:ph type="body" sz="half" idx="2"/>
          </p:nvPr>
        </p:nvSpPr>
        <p:spPr/>
        <p:txBody>
          <a:bodyPr/>
          <a:lstStyle/>
          <a:p>
            <a:r>
              <a:rPr lang="ru-RU" dirty="0"/>
              <a:t>КОЛИЧЕСТВО ТРАНЗИСТОРОВ В схемах увеличивается вдвое каждые 18 месяцев</a:t>
            </a:r>
          </a:p>
          <a:p>
            <a:endParaRPr lang="ru-RU" dirty="0"/>
          </a:p>
        </p:txBody>
      </p:sp>
    </p:spTree>
    <p:extLst>
      <p:ext uri="{BB962C8B-B14F-4D97-AF65-F5344CB8AC3E}">
        <p14:creationId xmlns:p14="http://schemas.microsoft.com/office/powerpoint/2010/main" val="3800787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D94829-976B-1C8F-B846-D8C935E3F09B}"/>
              </a:ext>
            </a:extLst>
          </p:cNvPr>
          <p:cNvSpPr>
            <a:spLocks noGrp="1"/>
          </p:cNvSpPr>
          <p:nvPr>
            <p:ph type="title"/>
          </p:nvPr>
        </p:nvSpPr>
        <p:spPr/>
        <p:txBody>
          <a:bodyPr/>
          <a:lstStyle/>
          <a:p>
            <a:r>
              <a:rPr lang="ru-RU" dirty="0"/>
              <a:t>ЗАКОН ГЕЙТСА</a:t>
            </a:r>
          </a:p>
        </p:txBody>
      </p:sp>
      <p:pic>
        <p:nvPicPr>
          <p:cNvPr id="6" name="Объект 5">
            <a:extLst>
              <a:ext uri="{FF2B5EF4-FFF2-40B4-BE49-F238E27FC236}">
                <a16:creationId xmlns:a16="http://schemas.microsoft.com/office/drawing/2014/main" id="{621B3E6D-6444-EC8A-1B11-B8E879906D2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flipV="1">
            <a:off x="5046663" y="798330"/>
            <a:ext cx="6034087" cy="4464415"/>
          </a:xfrm>
        </p:spPr>
      </p:pic>
      <p:sp>
        <p:nvSpPr>
          <p:cNvPr id="4" name="Текст 3">
            <a:extLst>
              <a:ext uri="{FF2B5EF4-FFF2-40B4-BE49-F238E27FC236}">
                <a16:creationId xmlns:a16="http://schemas.microsoft.com/office/drawing/2014/main" id="{F57055EF-C300-AC03-04ED-B19C0BE069E5}"/>
              </a:ext>
            </a:extLst>
          </p:cNvPr>
          <p:cNvSpPr>
            <a:spLocks noGrp="1"/>
          </p:cNvSpPr>
          <p:nvPr>
            <p:ph type="body" sz="half" idx="2"/>
          </p:nvPr>
        </p:nvSpPr>
        <p:spPr/>
        <p:txBody>
          <a:bodyPr/>
          <a:lstStyle/>
          <a:p>
            <a:r>
              <a:rPr lang="ru-RU" dirty="0"/>
              <a:t>Скорость программного обеспечения снижается вдвое каждые 18 месяцев</a:t>
            </a:r>
          </a:p>
          <a:p>
            <a:endParaRPr lang="ru-RU" dirty="0"/>
          </a:p>
        </p:txBody>
      </p:sp>
    </p:spTree>
    <p:extLst>
      <p:ext uri="{BB962C8B-B14F-4D97-AF65-F5344CB8AC3E}">
        <p14:creationId xmlns:p14="http://schemas.microsoft.com/office/powerpoint/2010/main" val="67870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4D3EA468-5083-9A51-C783-237A3DDE042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799809" y="605939"/>
            <a:ext cx="8592381" cy="4669577"/>
          </a:xfrm>
        </p:spPr>
      </p:pic>
    </p:spTree>
    <p:extLst>
      <p:ext uri="{BB962C8B-B14F-4D97-AF65-F5344CB8AC3E}">
        <p14:creationId xmlns:p14="http://schemas.microsoft.com/office/powerpoint/2010/main" val="214308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4C2924-4DB3-C08C-3989-9D423614F62B}"/>
              </a:ext>
            </a:extLst>
          </p:cNvPr>
          <p:cNvSpPr>
            <a:spLocks noGrp="1"/>
          </p:cNvSpPr>
          <p:nvPr>
            <p:ph type="title"/>
          </p:nvPr>
        </p:nvSpPr>
        <p:spPr/>
        <p:txBody>
          <a:bodyPr>
            <a:normAutofit fontScale="90000"/>
          </a:bodyPr>
          <a:lstStyle/>
          <a:p>
            <a:r>
              <a:rPr lang="ru-RU" dirty="0"/>
              <a:t>Проблема зависимостей и пакетов</a:t>
            </a:r>
          </a:p>
        </p:txBody>
      </p:sp>
      <p:sp>
        <p:nvSpPr>
          <p:cNvPr id="3" name="Объект 2">
            <a:extLst>
              <a:ext uri="{FF2B5EF4-FFF2-40B4-BE49-F238E27FC236}">
                <a16:creationId xmlns:a16="http://schemas.microsoft.com/office/drawing/2014/main" id="{51374283-9CDE-39D8-215F-77E10B057FBE}"/>
              </a:ext>
            </a:extLst>
          </p:cNvPr>
          <p:cNvSpPr>
            <a:spLocks noGrp="1"/>
          </p:cNvSpPr>
          <p:nvPr>
            <p:ph sz="quarter" idx="13"/>
          </p:nvPr>
        </p:nvSpPr>
        <p:spPr/>
        <p:txBody>
          <a:bodyPr/>
          <a:lstStyle/>
          <a:p>
            <a:r>
              <a:rPr lang="ru-RU" dirty="0"/>
              <a:t>Инцидент с пакетом </a:t>
            </a:r>
            <a:r>
              <a:rPr lang="en-US" dirty="0" err="1"/>
              <a:t>npm</a:t>
            </a:r>
            <a:r>
              <a:rPr lang="en-US" dirty="0"/>
              <a:t> “</a:t>
            </a:r>
            <a:r>
              <a:rPr lang="en-US" dirty="0" err="1"/>
              <a:t>leftpad</a:t>
            </a:r>
            <a:r>
              <a:rPr lang="en-US" dirty="0"/>
              <a:t>”</a:t>
            </a:r>
          </a:p>
          <a:p>
            <a:r>
              <a:rPr lang="ru-RU" dirty="0"/>
              <a:t>В результате спора пользователем был удален пакет, добавляющий </a:t>
            </a:r>
            <a:r>
              <a:rPr lang="en-US" dirty="0"/>
              <a:t>n</a:t>
            </a:r>
            <a:r>
              <a:rPr lang="ru-RU" dirty="0"/>
              <a:t> символов в строку слева</a:t>
            </a:r>
          </a:p>
          <a:p>
            <a:r>
              <a:rPr lang="ru-RU" dirty="0"/>
              <a:t>Это использовалось как зависимость в </a:t>
            </a:r>
            <a:r>
              <a:rPr lang="ru-RU" dirty="0" err="1"/>
              <a:t>транспайлерах</a:t>
            </a:r>
            <a:r>
              <a:rPr lang="ru-RU" dirty="0"/>
              <a:t> </a:t>
            </a:r>
            <a:r>
              <a:rPr lang="en-US" dirty="0"/>
              <a:t>babel </a:t>
            </a:r>
            <a:r>
              <a:rPr lang="ru-RU" dirty="0"/>
              <a:t>и библиотеки </a:t>
            </a:r>
            <a:r>
              <a:rPr lang="en-US" dirty="0"/>
              <a:t>react</a:t>
            </a:r>
            <a:endParaRPr lang="ru-RU" dirty="0"/>
          </a:p>
        </p:txBody>
      </p:sp>
      <p:pic>
        <p:nvPicPr>
          <p:cNvPr id="6" name="Объект 5">
            <a:extLst>
              <a:ext uri="{FF2B5EF4-FFF2-40B4-BE49-F238E27FC236}">
                <a16:creationId xmlns:a16="http://schemas.microsoft.com/office/drawing/2014/main" id="{1261E7D9-DE89-7B6A-AC06-1164E4235C31}"/>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7170388" y="2063750"/>
            <a:ext cx="2734374" cy="3311525"/>
          </a:xfrm>
        </p:spPr>
      </p:pic>
    </p:spTree>
    <p:extLst>
      <p:ext uri="{BB962C8B-B14F-4D97-AF65-F5344CB8AC3E}">
        <p14:creationId xmlns:p14="http://schemas.microsoft.com/office/powerpoint/2010/main" val="3120891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A72830-5DF3-78B2-336D-3595638302C5}"/>
              </a:ext>
            </a:extLst>
          </p:cNvPr>
          <p:cNvSpPr>
            <a:spLocks noGrp="1"/>
          </p:cNvSpPr>
          <p:nvPr>
            <p:ph type="title"/>
          </p:nvPr>
        </p:nvSpPr>
        <p:spPr/>
        <p:txBody>
          <a:bodyPr/>
          <a:lstStyle/>
          <a:p>
            <a:r>
              <a:rPr lang="en-US" dirty="0"/>
              <a:t>SUCKLESS</a:t>
            </a:r>
            <a:endParaRPr lang="ru-RU" dirty="0"/>
          </a:p>
        </p:txBody>
      </p:sp>
      <p:sp>
        <p:nvSpPr>
          <p:cNvPr id="3" name="Объект 2">
            <a:extLst>
              <a:ext uri="{FF2B5EF4-FFF2-40B4-BE49-F238E27FC236}">
                <a16:creationId xmlns:a16="http://schemas.microsoft.com/office/drawing/2014/main" id="{BB0DF34E-8997-2C65-4DD5-94C51410AA4C}"/>
              </a:ext>
            </a:extLst>
          </p:cNvPr>
          <p:cNvSpPr>
            <a:spLocks noGrp="1"/>
          </p:cNvSpPr>
          <p:nvPr>
            <p:ph sz="quarter" idx="13"/>
          </p:nvPr>
        </p:nvSpPr>
        <p:spPr/>
        <p:txBody>
          <a:bodyPr>
            <a:normAutofit lnSpcReduction="10000"/>
          </a:bodyPr>
          <a:lstStyle/>
          <a:p>
            <a:r>
              <a:rPr lang="en-US" dirty="0"/>
              <a:t>Many (open source) hackers are proud if they achieve large amounts of code, because they believe the more lines of code they've written, the more progress they have made. The more progress they have made, the more skilled they are. This is simply a delusion.</a:t>
            </a:r>
          </a:p>
          <a:p>
            <a:r>
              <a:rPr lang="en-US" dirty="0"/>
              <a:t>Most hackers actually don't care much about code quality. Thus, if they get something working which seems to solve a problem, they stick with it. If this kind of software development is applied to the same source code throughout its entire life-cycle, we're left with large amounts of code, a totally screwed code structure, and a flawed system design. This is because of a lack of conceptual clarity and integrity in the development process.</a:t>
            </a:r>
          </a:p>
          <a:p>
            <a:endParaRPr lang="ru-RU" dirty="0"/>
          </a:p>
        </p:txBody>
      </p:sp>
    </p:spTree>
    <p:extLst>
      <p:ext uri="{BB962C8B-B14F-4D97-AF65-F5344CB8AC3E}">
        <p14:creationId xmlns:p14="http://schemas.microsoft.com/office/powerpoint/2010/main" val="1973017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4CB278-B2EA-0340-60BA-D55DFE48BF28}"/>
              </a:ext>
            </a:extLst>
          </p:cNvPr>
          <p:cNvSpPr>
            <a:spLocks noGrp="1"/>
          </p:cNvSpPr>
          <p:nvPr>
            <p:ph type="title"/>
          </p:nvPr>
        </p:nvSpPr>
        <p:spPr/>
        <p:txBody>
          <a:bodyPr/>
          <a:lstStyle/>
          <a:p>
            <a:r>
              <a:rPr lang="en-US" dirty="0"/>
              <a:t>SUCKLESS</a:t>
            </a:r>
            <a:endParaRPr lang="ru-RU" dirty="0"/>
          </a:p>
        </p:txBody>
      </p:sp>
      <p:pic>
        <p:nvPicPr>
          <p:cNvPr id="6" name="Объект 5">
            <a:extLst>
              <a:ext uri="{FF2B5EF4-FFF2-40B4-BE49-F238E27FC236}">
                <a16:creationId xmlns:a16="http://schemas.microsoft.com/office/drawing/2014/main" id="{8261F0C7-81ED-296A-E904-1AD4CAAFC92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046663" y="1019175"/>
            <a:ext cx="6034087" cy="4022724"/>
          </a:xfrm>
        </p:spPr>
      </p:pic>
      <p:sp>
        <p:nvSpPr>
          <p:cNvPr id="4" name="Текст 3">
            <a:extLst>
              <a:ext uri="{FF2B5EF4-FFF2-40B4-BE49-F238E27FC236}">
                <a16:creationId xmlns:a16="http://schemas.microsoft.com/office/drawing/2014/main" id="{5E54F65E-12BD-A0F8-1F7E-B3A859EF7B6E}"/>
              </a:ext>
            </a:extLst>
          </p:cNvPr>
          <p:cNvSpPr>
            <a:spLocks noGrp="1"/>
          </p:cNvSpPr>
          <p:nvPr>
            <p:ph type="body" sz="half" idx="2"/>
          </p:nvPr>
        </p:nvSpPr>
        <p:spPr/>
        <p:txBody>
          <a:bodyPr>
            <a:normAutofit fontScale="92500"/>
          </a:bodyPr>
          <a:lstStyle/>
          <a:p>
            <a:r>
              <a:rPr lang="en-US" dirty="0"/>
              <a:t>Ingenious ideas are simple. Ingenious software is simple. Simplicity is the heart of the Unix philosophy. The more code lines you have removed, the more progress you have made. As the number of lines of code in your software shrinks, the more skilled you have become and the less your software sucks.</a:t>
            </a:r>
            <a:endParaRPr lang="ru-RU" dirty="0"/>
          </a:p>
        </p:txBody>
      </p:sp>
    </p:spTree>
    <p:extLst>
      <p:ext uri="{BB962C8B-B14F-4D97-AF65-F5344CB8AC3E}">
        <p14:creationId xmlns:p14="http://schemas.microsoft.com/office/powerpoint/2010/main" val="3280888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63B9BE-1C5D-41A9-97AA-BFDD0F88F955}"/>
              </a:ext>
            </a:extLst>
          </p:cNvPr>
          <p:cNvSpPr>
            <a:spLocks noGrp="1"/>
          </p:cNvSpPr>
          <p:nvPr>
            <p:ph type="title"/>
          </p:nvPr>
        </p:nvSpPr>
        <p:spPr/>
        <p:txBody>
          <a:bodyPr/>
          <a:lstStyle/>
          <a:p>
            <a:endParaRPr lang="ru-RU" dirty="0"/>
          </a:p>
        </p:txBody>
      </p:sp>
      <p:sp>
        <p:nvSpPr>
          <p:cNvPr id="3" name="Текст 2">
            <a:extLst>
              <a:ext uri="{FF2B5EF4-FFF2-40B4-BE49-F238E27FC236}">
                <a16:creationId xmlns:a16="http://schemas.microsoft.com/office/drawing/2014/main" id="{F5A30734-4281-B0D4-D737-8D9175BC4178}"/>
              </a:ext>
            </a:extLst>
          </p:cNvPr>
          <p:cNvSpPr>
            <a:spLocks noGrp="1"/>
          </p:cNvSpPr>
          <p:nvPr>
            <p:ph type="body" idx="1"/>
          </p:nvPr>
        </p:nvSpPr>
        <p:spPr/>
        <p:txBody>
          <a:bodyPr/>
          <a:lstStyle/>
          <a:p>
            <a:r>
              <a:rPr lang="en-US" dirty="0" err="1"/>
              <a:t>dwm</a:t>
            </a:r>
            <a:endParaRPr lang="ru-RU" dirty="0"/>
          </a:p>
        </p:txBody>
      </p:sp>
      <p:pic>
        <p:nvPicPr>
          <p:cNvPr id="8" name="Объект 7">
            <a:extLst>
              <a:ext uri="{FF2B5EF4-FFF2-40B4-BE49-F238E27FC236}">
                <a16:creationId xmlns:a16="http://schemas.microsoft.com/office/drawing/2014/main" id="{5EE326C1-039F-DC91-7A56-154F5BDA32A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221869" y="2862263"/>
            <a:ext cx="4015799" cy="2513012"/>
          </a:xfrm>
        </p:spPr>
      </p:pic>
      <p:sp>
        <p:nvSpPr>
          <p:cNvPr id="5" name="Текст 4">
            <a:extLst>
              <a:ext uri="{FF2B5EF4-FFF2-40B4-BE49-F238E27FC236}">
                <a16:creationId xmlns:a16="http://schemas.microsoft.com/office/drawing/2014/main" id="{9A53EFD8-11C3-F984-B9E0-7C1B72B91AEF}"/>
              </a:ext>
            </a:extLst>
          </p:cNvPr>
          <p:cNvSpPr>
            <a:spLocks noGrp="1"/>
          </p:cNvSpPr>
          <p:nvPr>
            <p:ph type="body" sz="quarter" idx="3"/>
          </p:nvPr>
        </p:nvSpPr>
        <p:spPr/>
        <p:txBody>
          <a:bodyPr/>
          <a:lstStyle/>
          <a:p>
            <a:r>
              <a:rPr lang="en-US" dirty="0" err="1"/>
              <a:t>st</a:t>
            </a:r>
            <a:endParaRPr lang="ru-RU" dirty="0"/>
          </a:p>
        </p:txBody>
      </p:sp>
      <p:pic>
        <p:nvPicPr>
          <p:cNvPr id="10" name="Объект 9">
            <a:extLst>
              <a:ext uri="{FF2B5EF4-FFF2-40B4-BE49-F238E27FC236}">
                <a16:creationId xmlns:a16="http://schemas.microsoft.com/office/drawing/2014/main" id="{45BC253D-9144-91AF-1E24-6EA37ADD9EA8}"/>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6527959" y="2862263"/>
            <a:ext cx="4020819" cy="2513012"/>
          </a:xfrm>
        </p:spPr>
      </p:pic>
    </p:spTree>
    <p:extLst>
      <p:ext uri="{BB962C8B-B14F-4D97-AF65-F5344CB8AC3E}">
        <p14:creationId xmlns:p14="http://schemas.microsoft.com/office/powerpoint/2010/main" val="196047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E98C38-0361-61F3-2FB0-58812565CA59}"/>
              </a:ext>
            </a:extLst>
          </p:cNvPr>
          <p:cNvSpPr>
            <a:spLocks noGrp="1"/>
          </p:cNvSpPr>
          <p:nvPr>
            <p:ph type="title"/>
          </p:nvPr>
        </p:nvSpPr>
        <p:spPr/>
        <p:txBody>
          <a:bodyPr/>
          <a:lstStyle/>
          <a:p>
            <a:r>
              <a:rPr lang="en-US" dirty="0" err="1"/>
              <a:t>Stali</a:t>
            </a:r>
            <a:endParaRPr lang="ru-RU" dirty="0"/>
          </a:p>
        </p:txBody>
      </p:sp>
      <p:pic>
        <p:nvPicPr>
          <p:cNvPr id="6" name="Объект 5">
            <a:extLst>
              <a:ext uri="{FF2B5EF4-FFF2-40B4-BE49-F238E27FC236}">
                <a16:creationId xmlns:a16="http://schemas.microsoft.com/office/drawing/2014/main" id="{228851C7-97C7-6EA7-EE48-B96C95BADB9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046663" y="1020744"/>
            <a:ext cx="6034087" cy="4019586"/>
          </a:xfrm>
        </p:spPr>
      </p:pic>
      <p:sp>
        <p:nvSpPr>
          <p:cNvPr id="4" name="Текст 3">
            <a:extLst>
              <a:ext uri="{FF2B5EF4-FFF2-40B4-BE49-F238E27FC236}">
                <a16:creationId xmlns:a16="http://schemas.microsoft.com/office/drawing/2014/main" id="{62C449CA-56B6-78D1-5BB3-6793120C8DD7}"/>
              </a:ext>
            </a:extLst>
          </p:cNvPr>
          <p:cNvSpPr>
            <a:spLocks noGrp="1"/>
          </p:cNvSpPr>
          <p:nvPr>
            <p:ph type="body" sz="half" idx="2"/>
          </p:nvPr>
        </p:nvSpPr>
        <p:spPr/>
        <p:txBody>
          <a:bodyPr/>
          <a:lstStyle/>
          <a:p>
            <a:endParaRPr lang="ru-RU"/>
          </a:p>
        </p:txBody>
      </p:sp>
    </p:spTree>
    <p:extLst>
      <p:ext uri="{BB962C8B-B14F-4D97-AF65-F5344CB8AC3E}">
        <p14:creationId xmlns:p14="http://schemas.microsoft.com/office/powerpoint/2010/main" val="4051603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9B1E-3A1D-9A46-5A42-14FF8E150404}"/>
              </a:ext>
            </a:extLst>
          </p:cNvPr>
          <p:cNvSpPr>
            <a:spLocks noGrp="1"/>
          </p:cNvSpPr>
          <p:nvPr>
            <p:ph type="title"/>
          </p:nvPr>
        </p:nvSpPr>
        <p:spPr/>
        <p:txBody>
          <a:bodyPr/>
          <a:lstStyle/>
          <a:p>
            <a:r>
              <a:rPr lang="ru-RU" dirty="0"/>
              <a:t>оценка</a:t>
            </a:r>
          </a:p>
        </p:txBody>
      </p:sp>
      <p:sp>
        <p:nvSpPr>
          <p:cNvPr id="3" name="Текст 2">
            <a:extLst>
              <a:ext uri="{FF2B5EF4-FFF2-40B4-BE49-F238E27FC236}">
                <a16:creationId xmlns:a16="http://schemas.microsoft.com/office/drawing/2014/main" id="{7EA25A76-636A-2ECD-F267-3282B9997018}"/>
              </a:ext>
            </a:extLst>
          </p:cNvPr>
          <p:cNvSpPr>
            <a:spLocks noGrp="1"/>
          </p:cNvSpPr>
          <p:nvPr>
            <p:ph type="body" idx="1"/>
          </p:nvPr>
        </p:nvSpPr>
        <p:spPr/>
        <p:txBody>
          <a:bodyPr/>
          <a:lstStyle/>
          <a:p>
            <a:r>
              <a:rPr lang="ru-RU" dirty="0" err="1"/>
              <a:t>приемущества</a:t>
            </a:r>
            <a:endParaRPr lang="ru-RU" dirty="0"/>
          </a:p>
        </p:txBody>
      </p:sp>
      <p:sp>
        <p:nvSpPr>
          <p:cNvPr id="4" name="Объект 3">
            <a:extLst>
              <a:ext uri="{FF2B5EF4-FFF2-40B4-BE49-F238E27FC236}">
                <a16:creationId xmlns:a16="http://schemas.microsoft.com/office/drawing/2014/main" id="{1D83C559-EC2B-B2B0-08A6-D91E1AFD0703}"/>
              </a:ext>
            </a:extLst>
          </p:cNvPr>
          <p:cNvSpPr>
            <a:spLocks noGrp="1"/>
          </p:cNvSpPr>
          <p:nvPr>
            <p:ph sz="quarter" idx="13"/>
          </p:nvPr>
        </p:nvSpPr>
        <p:spPr/>
        <p:txBody>
          <a:bodyPr/>
          <a:lstStyle/>
          <a:p>
            <a:r>
              <a:rPr lang="ru-RU" dirty="0"/>
              <a:t>Минимальные высокопроизводительные приложения с чистым функционалом</a:t>
            </a:r>
          </a:p>
          <a:p>
            <a:r>
              <a:rPr lang="ru-RU" dirty="0"/>
              <a:t>Занимают минимальное место в памяти</a:t>
            </a:r>
          </a:p>
        </p:txBody>
      </p:sp>
      <p:sp>
        <p:nvSpPr>
          <p:cNvPr id="5" name="Текст 4">
            <a:extLst>
              <a:ext uri="{FF2B5EF4-FFF2-40B4-BE49-F238E27FC236}">
                <a16:creationId xmlns:a16="http://schemas.microsoft.com/office/drawing/2014/main" id="{EEF80F45-42D7-FA41-606A-D3572BE4EFFE}"/>
              </a:ext>
            </a:extLst>
          </p:cNvPr>
          <p:cNvSpPr>
            <a:spLocks noGrp="1"/>
          </p:cNvSpPr>
          <p:nvPr>
            <p:ph type="body" sz="quarter" idx="3"/>
          </p:nvPr>
        </p:nvSpPr>
        <p:spPr/>
        <p:txBody>
          <a:bodyPr/>
          <a:lstStyle/>
          <a:p>
            <a:r>
              <a:rPr lang="ru-RU" dirty="0"/>
              <a:t>недостатки</a:t>
            </a:r>
          </a:p>
        </p:txBody>
      </p:sp>
      <p:sp>
        <p:nvSpPr>
          <p:cNvPr id="6" name="Объект 5">
            <a:extLst>
              <a:ext uri="{FF2B5EF4-FFF2-40B4-BE49-F238E27FC236}">
                <a16:creationId xmlns:a16="http://schemas.microsoft.com/office/drawing/2014/main" id="{E3463A3E-8B16-5BCF-30D3-5C1E5DDF4826}"/>
              </a:ext>
            </a:extLst>
          </p:cNvPr>
          <p:cNvSpPr>
            <a:spLocks noGrp="1"/>
          </p:cNvSpPr>
          <p:nvPr>
            <p:ph sz="quarter" idx="14"/>
          </p:nvPr>
        </p:nvSpPr>
        <p:spPr/>
        <p:txBody>
          <a:bodyPr/>
          <a:lstStyle/>
          <a:p>
            <a:r>
              <a:rPr lang="ru-RU" dirty="0"/>
              <a:t>На стадии </a:t>
            </a:r>
            <a:r>
              <a:rPr lang="en-US" dirty="0"/>
              <a:t>proof-of-concept</a:t>
            </a:r>
          </a:p>
          <a:p>
            <a:r>
              <a:rPr lang="ru-RU" dirty="0"/>
              <a:t>Узкий спектр решаемых задач</a:t>
            </a:r>
          </a:p>
          <a:p>
            <a:r>
              <a:rPr lang="ru-RU" dirty="0"/>
              <a:t>Низкая скорость разработки из-за принципов и недостатка интереса</a:t>
            </a:r>
          </a:p>
        </p:txBody>
      </p:sp>
    </p:spTree>
    <p:extLst>
      <p:ext uri="{BB962C8B-B14F-4D97-AF65-F5344CB8AC3E}">
        <p14:creationId xmlns:p14="http://schemas.microsoft.com/office/powerpoint/2010/main" val="278872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67EF1C-8005-22DC-F212-85CAA12BEFD3}"/>
              </a:ext>
            </a:extLst>
          </p:cNvPr>
          <p:cNvSpPr>
            <a:spLocks noGrp="1"/>
          </p:cNvSpPr>
          <p:nvPr>
            <p:ph type="title"/>
          </p:nvPr>
        </p:nvSpPr>
        <p:spPr/>
        <p:txBody>
          <a:bodyPr/>
          <a:lstStyle/>
          <a:p>
            <a:r>
              <a:rPr lang="ru-RU" dirty="0"/>
              <a:t>Парадокс больших данных</a:t>
            </a:r>
          </a:p>
        </p:txBody>
      </p:sp>
      <p:pic>
        <p:nvPicPr>
          <p:cNvPr id="5" name="Объект 4">
            <a:extLst>
              <a:ext uri="{FF2B5EF4-FFF2-40B4-BE49-F238E27FC236}">
                <a16:creationId xmlns:a16="http://schemas.microsoft.com/office/drawing/2014/main" id="{2FBD2000-D067-BBF0-A4CB-E487FE2932FA}"/>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195258" y="1837765"/>
            <a:ext cx="7377968" cy="3570779"/>
          </a:xfrm>
        </p:spPr>
      </p:pic>
    </p:spTree>
    <p:extLst>
      <p:ext uri="{BB962C8B-B14F-4D97-AF65-F5344CB8AC3E}">
        <p14:creationId xmlns:p14="http://schemas.microsoft.com/office/powerpoint/2010/main" val="384213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7B78E0-B565-F4C3-0133-865E0E49831D}"/>
              </a:ext>
            </a:extLst>
          </p:cNvPr>
          <p:cNvSpPr>
            <a:spLocks noGrp="1"/>
          </p:cNvSpPr>
          <p:nvPr>
            <p:ph type="title"/>
          </p:nvPr>
        </p:nvSpPr>
        <p:spPr/>
        <p:txBody>
          <a:bodyPr/>
          <a:lstStyle/>
          <a:p>
            <a:endParaRPr lang="ru-RU"/>
          </a:p>
        </p:txBody>
      </p:sp>
      <p:pic>
        <p:nvPicPr>
          <p:cNvPr id="5" name="Объект 4">
            <a:extLst>
              <a:ext uri="{FF2B5EF4-FFF2-40B4-BE49-F238E27FC236}">
                <a16:creationId xmlns:a16="http://schemas.microsoft.com/office/drawing/2014/main" id="{BF0DE7D4-C439-835E-1086-CEEA1FB2C42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904608" y="758979"/>
            <a:ext cx="5680099" cy="4261257"/>
          </a:xfrm>
        </p:spPr>
      </p:pic>
    </p:spTree>
    <p:extLst>
      <p:ext uri="{BB962C8B-B14F-4D97-AF65-F5344CB8AC3E}">
        <p14:creationId xmlns:p14="http://schemas.microsoft.com/office/powerpoint/2010/main" val="333913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D21978-711E-EC9D-488F-0217C01B7EF1}"/>
              </a:ext>
            </a:extLst>
          </p:cNvPr>
          <p:cNvSpPr>
            <a:spLocks noGrp="1"/>
          </p:cNvSpPr>
          <p:nvPr>
            <p:ph type="title"/>
          </p:nvPr>
        </p:nvSpPr>
        <p:spPr/>
        <p:txBody>
          <a:bodyPr>
            <a:normAutofit fontScale="90000"/>
          </a:bodyPr>
          <a:lstStyle/>
          <a:p>
            <a:r>
              <a:rPr lang="ru-RU" dirty="0"/>
              <a:t>Сравнение аппроксимаций с исходной функцией</a:t>
            </a:r>
          </a:p>
        </p:txBody>
      </p:sp>
      <p:sp>
        <p:nvSpPr>
          <p:cNvPr id="3" name="Текст 2">
            <a:extLst>
              <a:ext uri="{FF2B5EF4-FFF2-40B4-BE49-F238E27FC236}">
                <a16:creationId xmlns:a16="http://schemas.microsoft.com/office/drawing/2014/main" id="{9C3C998C-855D-8CC3-6F72-96124D5EC789}"/>
              </a:ext>
            </a:extLst>
          </p:cNvPr>
          <p:cNvSpPr>
            <a:spLocks noGrp="1"/>
          </p:cNvSpPr>
          <p:nvPr>
            <p:ph type="body" idx="1"/>
          </p:nvPr>
        </p:nvSpPr>
        <p:spPr/>
        <p:txBody>
          <a:bodyPr/>
          <a:lstStyle/>
          <a:p>
            <a:r>
              <a:rPr lang="ru-RU" dirty="0"/>
              <a:t>Разброс 0.1</a:t>
            </a:r>
          </a:p>
        </p:txBody>
      </p:sp>
      <p:sp>
        <p:nvSpPr>
          <p:cNvPr id="4" name="Текст 3">
            <a:extLst>
              <a:ext uri="{FF2B5EF4-FFF2-40B4-BE49-F238E27FC236}">
                <a16:creationId xmlns:a16="http://schemas.microsoft.com/office/drawing/2014/main" id="{F4BF3936-EE29-2CEA-8459-CE29FC73C19F}"/>
              </a:ext>
            </a:extLst>
          </p:cNvPr>
          <p:cNvSpPr>
            <a:spLocks noGrp="1"/>
          </p:cNvSpPr>
          <p:nvPr>
            <p:ph type="body" sz="half" idx="15"/>
          </p:nvPr>
        </p:nvSpPr>
        <p:spPr/>
        <p:txBody>
          <a:bodyPr/>
          <a:lstStyle/>
          <a:p>
            <a:endParaRPr lang="ru-RU" dirty="0"/>
          </a:p>
        </p:txBody>
      </p:sp>
      <p:sp>
        <p:nvSpPr>
          <p:cNvPr id="5" name="Текст 4">
            <a:extLst>
              <a:ext uri="{FF2B5EF4-FFF2-40B4-BE49-F238E27FC236}">
                <a16:creationId xmlns:a16="http://schemas.microsoft.com/office/drawing/2014/main" id="{1B9001CD-D88B-5DC7-AC2A-5CD217ECB80B}"/>
              </a:ext>
            </a:extLst>
          </p:cNvPr>
          <p:cNvSpPr>
            <a:spLocks noGrp="1"/>
          </p:cNvSpPr>
          <p:nvPr>
            <p:ph type="body" sz="quarter" idx="3"/>
          </p:nvPr>
        </p:nvSpPr>
        <p:spPr/>
        <p:txBody>
          <a:bodyPr/>
          <a:lstStyle/>
          <a:p>
            <a:r>
              <a:rPr lang="ru-RU" dirty="0"/>
              <a:t>Разброс 1</a:t>
            </a:r>
          </a:p>
        </p:txBody>
      </p:sp>
      <p:sp>
        <p:nvSpPr>
          <p:cNvPr id="6" name="Текст 5">
            <a:extLst>
              <a:ext uri="{FF2B5EF4-FFF2-40B4-BE49-F238E27FC236}">
                <a16:creationId xmlns:a16="http://schemas.microsoft.com/office/drawing/2014/main" id="{50D60DFA-3272-11CC-6AC8-6616EB0F9631}"/>
              </a:ext>
            </a:extLst>
          </p:cNvPr>
          <p:cNvSpPr>
            <a:spLocks noGrp="1"/>
          </p:cNvSpPr>
          <p:nvPr>
            <p:ph type="body" sz="half" idx="16"/>
          </p:nvPr>
        </p:nvSpPr>
        <p:spPr/>
        <p:txBody>
          <a:bodyPr/>
          <a:lstStyle/>
          <a:p>
            <a:endParaRPr lang="ru-RU" dirty="0"/>
          </a:p>
        </p:txBody>
      </p:sp>
      <p:sp>
        <p:nvSpPr>
          <p:cNvPr id="7" name="Текст 6">
            <a:extLst>
              <a:ext uri="{FF2B5EF4-FFF2-40B4-BE49-F238E27FC236}">
                <a16:creationId xmlns:a16="http://schemas.microsoft.com/office/drawing/2014/main" id="{83FAEF9D-CEB3-E8ED-3893-34B46C672ECF}"/>
              </a:ext>
            </a:extLst>
          </p:cNvPr>
          <p:cNvSpPr>
            <a:spLocks noGrp="1"/>
          </p:cNvSpPr>
          <p:nvPr>
            <p:ph type="body" sz="quarter" idx="13"/>
          </p:nvPr>
        </p:nvSpPr>
        <p:spPr/>
        <p:txBody>
          <a:bodyPr/>
          <a:lstStyle/>
          <a:p>
            <a:r>
              <a:rPr lang="ru-RU" dirty="0"/>
              <a:t>Разброс 5</a:t>
            </a:r>
          </a:p>
        </p:txBody>
      </p:sp>
      <p:sp>
        <p:nvSpPr>
          <p:cNvPr id="8" name="Текст 7">
            <a:extLst>
              <a:ext uri="{FF2B5EF4-FFF2-40B4-BE49-F238E27FC236}">
                <a16:creationId xmlns:a16="http://schemas.microsoft.com/office/drawing/2014/main" id="{2218FE6B-A806-8E09-4CEA-DBA9F15657F3}"/>
              </a:ext>
            </a:extLst>
          </p:cNvPr>
          <p:cNvSpPr>
            <a:spLocks noGrp="1"/>
          </p:cNvSpPr>
          <p:nvPr>
            <p:ph type="body" sz="half" idx="17"/>
          </p:nvPr>
        </p:nvSpPr>
        <p:spPr/>
        <p:txBody>
          <a:bodyPr/>
          <a:lstStyle/>
          <a:p>
            <a:endParaRPr lang="ru-RU" dirty="0"/>
          </a:p>
        </p:txBody>
      </p:sp>
      <p:pic>
        <p:nvPicPr>
          <p:cNvPr id="10" name="Рисунок 9">
            <a:extLst>
              <a:ext uri="{FF2B5EF4-FFF2-40B4-BE49-F238E27FC236}">
                <a16:creationId xmlns:a16="http://schemas.microsoft.com/office/drawing/2014/main" id="{DC4B2117-403E-C4E2-D60A-AF9897168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55" y="2639657"/>
            <a:ext cx="3368935" cy="2787353"/>
          </a:xfrm>
          <a:prstGeom prst="rect">
            <a:avLst/>
          </a:prstGeom>
        </p:spPr>
      </p:pic>
      <p:pic>
        <p:nvPicPr>
          <p:cNvPr id="12" name="Рисунок 11">
            <a:extLst>
              <a:ext uri="{FF2B5EF4-FFF2-40B4-BE49-F238E27FC236}">
                <a16:creationId xmlns:a16="http://schemas.microsoft.com/office/drawing/2014/main" id="{E19E1C12-F915-6D39-D5AC-5C431D335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2994" y="2639656"/>
            <a:ext cx="3373381" cy="2787353"/>
          </a:xfrm>
          <a:prstGeom prst="rect">
            <a:avLst/>
          </a:prstGeom>
        </p:spPr>
      </p:pic>
      <p:pic>
        <p:nvPicPr>
          <p:cNvPr id="14" name="Рисунок 13">
            <a:extLst>
              <a:ext uri="{FF2B5EF4-FFF2-40B4-BE49-F238E27FC236}">
                <a16:creationId xmlns:a16="http://schemas.microsoft.com/office/drawing/2014/main" id="{15BBEAF3-B0D7-424E-FED0-D383E154FA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4567" y="2639656"/>
            <a:ext cx="3341754" cy="2734930"/>
          </a:xfrm>
          <a:prstGeom prst="rect">
            <a:avLst/>
          </a:prstGeom>
        </p:spPr>
      </p:pic>
    </p:spTree>
    <p:extLst>
      <p:ext uri="{BB962C8B-B14F-4D97-AF65-F5344CB8AC3E}">
        <p14:creationId xmlns:p14="http://schemas.microsoft.com/office/powerpoint/2010/main" val="3773410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CD30AF-151D-9FFF-2DB5-B1E36B903914}"/>
              </a:ext>
            </a:extLst>
          </p:cNvPr>
          <p:cNvSpPr>
            <a:spLocks noGrp="1"/>
          </p:cNvSpPr>
          <p:nvPr>
            <p:ph type="title"/>
          </p:nvPr>
        </p:nvSpPr>
        <p:spPr/>
        <p:txBody>
          <a:bodyPr/>
          <a:lstStyle/>
          <a:p>
            <a:r>
              <a:rPr lang="ru-RU" dirty="0"/>
              <a:t>Другие проблемы</a:t>
            </a:r>
          </a:p>
        </p:txBody>
      </p:sp>
      <p:pic>
        <p:nvPicPr>
          <p:cNvPr id="6" name="Объект 5">
            <a:extLst>
              <a:ext uri="{FF2B5EF4-FFF2-40B4-BE49-F238E27FC236}">
                <a16:creationId xmlns:a16="http://schemas.microsoft.com/office/drawing/2014/main" id="{00FC852A-1BC8-14A2-6BA9-0F048F1E9ED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p:blipFill>
        <p:spPr>
          <a:xfrm>
            <a:off x="5046663" y="1486785"/>
            <a:ext cx="6034087" cy="3087505"/>
          </a:xfrm>
        </p:spPr>
      </p:pic>
      <p:sp>
        <p:nvSpPr>
          <p:cNvPr id="4" name="Текст 3">
            <a:extLst>
              <a:ext uri="{FF2B5EF4-FFF2-40B4-BE49-F238E27FC236}">
                <a16:creationId xmlns:a16="http://schemas.microsoft.com/office/drawing/2014/main" id="{C783AC93-57C5-F477-1600-508D4A4F452F}"/>
              </a:ext>
            </a:extLst>
          </p:cNvPr>
          <p:cNvSpPr>
            <a:spLocks noGrp="1"/>
          </p:cNvSpPr>
          <p:nvPr>
            <p:ph type="body" sz="half" idx="2"/>
          </p:nvPr>
        </p:nvSpPr>
        <p:spPr/>
        <p:txBody>
          <a:bodyPr/>
          <a:lstStyle/>
          <a:p>
            <a:pPr marL="285750" indent="-285750">
              <a:buFont typeface="Arial" panose="020B0604020202020204" pitchFamily="34" charset="0"/>
              <a:buChar char="•"/>
            </a:pPr>
            <a:r>
              <a:rPr lang="ru-RU" dirty="0"/>
              <a:t>Снижение качества данных при широкой выборке</a:t>
            </a:r>
          </a:p>
          <a:p>
            <a:pPr marL="285750" indent="-285750">
              <a:buFont typeface="Arial" panose="020B0604020202020204" pitchFamily="34" charset="0"/>
              <a:buChar char="•"/>
            </a:pPr>
            <a:r>
              <a:rPr lang="ru-RU" dirty="0"/>
              <a:t>Увеличение неоднородности данных</a:t>
            </a:r>
          </a:p>
        </p:txBody>
      </p:sp>
    </p:spTree>
    <p:extLst>
      <p:ext uri="{BB962C8B-B14F-4D97-AF65-F5344CB8AC3E}">
        <p14:creationId xmlns:p14="http://schemas.microsoft.com/office/powerpoint/2010/main" val="280785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9408D9-876F-F60A-4FE4-CD882305EB41}"/>
              </a:ext>
            </a:extLst>
          </p:cNvPr>
          <p:cNvSpPr>
            <a:spLocks noGrp="1"/>
          </p:cNvSpPr>
          <p:nvPr>
            <p:ph type="title"/>
          </p:nvPr>
        </p:nvSpPr>
        <p:spPr/>
        <p:txBody>
          <a:bodyPr/>
          <a:lstStyle/>
          <a:p>
            <a:r>
              <a:rPr lang="ru-RU" dirty="0"/>
              <a:t>Спасибо за внимание</a:t>
            </a:r>
          </a:p>
        </p:txBody>
      </p:sp>
    </p:spTree>
    <p:extLst>
      <p:ext uri="{BB962C8B-B14F-4D97-AF65-F5344CB8AC3E}">
        <p14:creationId xmlns:p14="http://schemas.microsoft.com/office/powerpoint/2010/main" val="89924157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Главное мероприятие">
  <a:themeElements>
    <a:clrScheme name="Главное мероприятие">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Главное мероприятие">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авное мероприятие">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TM04033927[[fn=Главное мероприятие]]</Template>
  <TotalTime>452</TotalTime>
  <Words>388</Words>
  <Application>Microsoft Office PowerPoint</Application>
  <PresentationFormat>Широкоэкранный</PresentationFormat>
  <Paragraphs>43</Paragraphs>
  <Slides>18</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18</vt:i4>
      </vt:variant>
    </vt:vector>
  </HeadingPairs>
  <TitlesOfParts>
    <vt:vector size="21" baseType="lpstr">
      <vt:lpstr>Arial</vt:lpstr>
      <vt:lpstr>Impact</vt:lpstr>
      <vt:lpstr>Главное мероприятие</vt:lpstr>
      <vt:lpstr>Обратная сторона</vt:lpstr>
      <vt:lpstr>Особенности сферы информацинных технологий</vt:lpstr>
      <vt:lpstr>МНОГО СПОРОВ</vt:lpstr>
      <vt:lpstr>О чем говорят противники</vt:lpstr>
      <vt:lpstr>ЗАКОН МУРА</vt:lpstr>
      <vt:lpstr>ЗАКОН ГЕЙТСА</vt:lpstr>
      <vt:lpstr>Презентация PowerPoint</vt:lpstr>
      <vt:lpstr>Проблема зависимостей и пакетов</vt:lpstr>
      <vt:lpstr>SUCKLESS</vt:lpstr>
      <vt:lpstr>SUCKLESS</vt:lpstr>
      <vt:lpstr>Презентация PowerPoint</vt:lpstr>
      <vt:lpstr>Stali</vt:lpstr>
      <vt:lpstr>оценка</vt:lpstr>
      <vt:lpstr>Парадокс больших данных</vt:lpstr>
      <vt:lpstr>Презентация PowerPoint</vt:lpstr>
      <vt:lpstr>Сравнение аппроксимаций с исходной функцией</vt:lpstr>
      <vt:lpstr>Другие проблемы</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Melikov Roman</dc:creator>
  <cp:lastModifiedBy>Melikov Roman</cp:lastModifiedBy>
  <cp:revision>14</cp:revision>
  <dcterms:created xsi:type="dcterms:W3CDTF">2025-09-09T11:30:47Z</dcterms:created>
  <dcterms:modified xsi:type="dcterms:W3CDTF">2025-09-17T13:05:32Z</dcterms:modified>
</cp:coreProperties>
</file>